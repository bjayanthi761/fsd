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24"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60178" y="5831646"/>
            <a:ext cx="15784162" cy="584775"/>
          </a:xfrm>
          <a:prstGeom prst="rect">
            <a:avLst/>
          </a:prstGeom>
          <a:noFill/>
        </p:spPr>
        <p:txBody>
          <a:bodyPr wrap="square" rtlCol="0">
            <a:spAutoFit/>
          </a:bodyPr>
          <a:lstStyle/>
          <a:p>
            <a:pPr algn="ctr"/>
            <a:r>
              <a:rPr lang="en-US" sz="3200" dirty="0">
                <a:solidFill>
                  <a:srgbClr val="0033CC"/>
                </a:solidFill>
              </a:rPr>
              <a:t>Full-Stack Skill Learning Academy Marketplace with Secure Authentication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533401" y="7818586"/>
            <a:ext cx="83820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Batthina</a:t>
            </a:r>
            <a:r>
              <a:rPr lang="en-US" sz="3000" dirty="0">
                <a:latin typeface="Cambria" panose="02040503050406030204" pitchFamily="18" charset="0"/>
                <a:ea typeface="Cambria" panose="02040503050406030204" pitchFamily="18" charset="0"/>
              </a:rPr>
              <a:t> Jayanthi– VTU25786 – 23UECS0951</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914744" y="7818586"/>
            <a:ext cx="7848599"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Rahman-Associate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sz="2000" b="1" dirty="0"/>
              <a:t>SDG 4 – </a:t>
            </a:r>
            <a:r>
              <a:rPr lang="en-IN" sz="2000" b="1" dirty="0"/>
              <a:t>Quality Education </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228600" y="502427"/>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384995"/>
          </a:xfrm>
          <a:prstGeom prst="rect">
            <a:avLst/>
          </a:prstGeom>
          <a:noFill/>
        </p:spPr>
        <p:txBody>
          <a:bodyPr wrap="square" rtlCol="0">
            <a:spAutoFit/>
          </a:bodyPr>
          <a:lstStyle/>
          <a:p>
            <a:endParaRPr lang="en-US" sz="2800" dirty="0"/>
          </a:p>
          <a:p>
            <a:endParaRPr lang="en-US" sz="2800" dirty="0"/>
          </a:p>
          <a:p>
            <a:endParaRPr lang="en-US" sz="2800" dirty="0"/>
          </a:p>
        </p:txBody>
      </p:sp>
      <p:sp>
        <p:nvSpPr>
          <p:cNvPr id="6" name="Rectangle 3">
            <a:extLst>
              <a:ext uri="{FF2B5EF4-FFF2-40B4-BE49-F238E27FC236}">
                <a16:creationId xmlns:a16="http://schemas.microsoft.com/office/drawing/2014/main" id="{F7B74028-4C58-EA27-0DB5-31C168B4753B}"/>
              </a:ext>
            </a:extLst>
          </p:cNvPr>
          <p:cNvSpPr>
            <a:spLocks noChangeArrowheads="1"/>
          </p:cNvSpPr>
          <p:nvPr/>
        </p:nvSpPr>
        <p:spPr bwMode="auto">
          <a:xfrm>
            <a:off x="1905000" y="2090852"/>
            <a:ext cx="15434765"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ea typeface="Cambria" panose="02040503050406030204" pitchFamily="18" charset="0"/>
              </a:rPr>
              <a:t>In today’s digital era, </a:t>
            </a:r>
            <a:r>
              <a:rPr lang="en-US" sz="2400" dirty="0"/>
              <a:t>online learning platforms are essential for acquiring skills in a structured and efficient way.</a:t>
            </a:r>
            <a:endParaRPr kumimoji="0" lang="en-US" altLang="en-US" sz="2400" b="0" i="0" u="none" strike="noStrike" cap="none" normalizeH="0" baseline="0" dirty="0">
              <a:ln>
                <a:noFill/>
              </a:ln>
              <a:solidFill>
                <a:schemeClr val="tx1"/>
              </a:solidFill>
              <a:effectLst/>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ea typeface="Cambria" panose="02040503050406030204" pitchFamily="18" charset="0"/>
              </a:rPr>
              <a:t>Many </a:t>
            </a:r>
            <a:r>
              <a:rPr lang="en-US" sz="2400" dirty="0"/>
              <a:t>learners depend on unorganized resources, which leads to confusion and lack of proper </a:t>
            </a:r>
            <a:r>
              <a:rPr lang="en-US" sz="2400" dirty="0" err="1"/>
              <a:t>guidance.</a:t>
            </a:r>
            <a:r>
              <a:rPr kumimoji="0" lang="en-US" altLang="en-US" sz="2400" b="0" i="0" u="none" strike="noStrike" cap="none" normalizeH="0" baseline="0" dirty="0" err="1">
                <a:ln>
                  <a:noFill/>
                </a:ln>
                <a:solidFill>
                  <a:schemeClr val="tx1"/>
                </a:solidFill>
                <a:effectLst/>
                <a:ea typeface="Cambria" panose="02040503050406030204" pitchFamily="18" charset="0"/>
              </a:rPr>
              <a:t>There</a:t>
            </a:r>
            <a:r>
              <a:rPr kumimoji="0" lang="en-US" altLang="en-US" sz="2400" b="0" i="0" u="none" strike="noStrike" cap="none" normalizeH="0" baseline="0" dirty="0">
                <a:ln>
                  <a:noFill/>
                </a:ln>
                <a:solidFill>
                  <a:schemeClr val="tx1"/>
                </a:solidFill>
                <a:effectLst/>
                <a:ea typeface="Cambria" panose="02040503050406030204" pitchFamily="18" charset="0"/>
              </a:rPr>
              <a:t> is a growing need for a simple, structured, and automated system to manage expenses efficiently.</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ea typeface="Cambria" panose="02040503050406030204" pitchFamily="18" charset="0"/>
              </a:rPr>
              <a:t>T</a:t>
            </a:r>
            <a:r>
              <a:rPr lang="en-US" sz="2400" dirty="0"/>
              <a:t>here is a growing need for a centralized platform that provides structured learning along with secure user access.</a:t>
            </a:r>
          </a:p>
          <a:p>
            <a:pPr lvl="0"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ea typeface="Cambria" panose="02040503050406030204" pitchFamily="18" charset="0"/>
              </a:rPr>
              <a:t>The </a:t>
            </a:r>
            <a:r>
              <a:rPr lang="en-US" sz="2400" b="1" dirty="0"/>
              <a:t>Skill Learning Academy Marketplace</a:t>
            </a:r>
            <a:r>
              <a:rPr lang="en-US" sz="2400" dirty="0"/>
              <a:t> is a full-stack web application developed to provide users with a platform to explore, enroll, and learn courses online.</a:t>
            </a:r>
          </a:p>
          <a:p>
            <a:pPr lvl="0"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lang="en-US" altLang="en-US" sz="2400" dirty="0">
                <a:ea typeface="Cambria" panose="02040503050406030204" pitchFamily="18" charset="0"/>
              </a:rPr>
              <a:t>The </a:t>
            </a:r>
            <a:r>
              <a:rPr lang="en-US" sz="2400" dirty="0"/>
              <a:t>system uses a MySQL database to maintain relational data between users, courses, and enrollments.</a:t>
            </a:r>
          </a:p>
          <a:p>
            <a:pPr lvl="0"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ea typeface="Cambria" panose="02040503050406030204" pitchFamily="18" charset="0"/>
            </a:endParaRPr>
          </a:p>
          <a:p>
            <a:pPr marL="342900" lvl="0" indent="-3429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ea typeface="Cambria" panose="02040503050406030204" pitchFamily="18" charset="0"/>
              </a:rPr>
              <a:t>It </a:t>
            </a:r>
            <a:r>
              <a:rPr lang="en-US" sz="2400" dirty="0"/>
              <a:t>provides secure authentication using login and registration modules to ensure safe user access.</a:t>
            </a:r>
          </a:p>
          <a:p>
            <a:pPr lvl="0" eaLnBrk="0" fontAlgn="base" hangingPunct="0">
              <a:spcBef>
                <a:spcPct val="0"/>
              </a:spcBef>
              <a:spcAft>
                <a:spcPct val="0"/>
              </a:spcAft>
            </a:pPr>
            <a:endParaRPr lang="en-US" sz="2400" dirty="0"/>
          </a:p>
          <a:p>
            <a:pPr marL="342900" lvl="0" indent="-342900" eaLnBrk="0" fontAlgn="base" hangingPunct="0">
              <a:spcBef>
                <a:spcPct val="0"/>
              </a:spcBef>
              <a:spcAft>
                <a:spcPct val="0"/>
              </a:spcAft>
              <a:buFont typeface="Wingdings" panose="05000000000000000000" pitchFamily="2" charset="2"/>
              <a:buChar char="q"/>
            </a:pPr>
            <a:r>
              <a:rPr lang="en-US" sz="2400" dirty="0"/>
              <a:t>The application is developed using HTML, CSS, Bootstrap for frontend and PHP with MySQL for backend, running on a local server using XAMPP.</a:t>
            </a:r>
            <a:endParaRPr kumimoji="0" lang="en-US" altLang="en-US" sz="2400" b="0" i="0" u="none" strike="noStrike" cap="none" normalizeH="0" baseline="0" dirty="0">
              <a:ln>
                <a:noFill/>
              </a:ln>
              <a:solidFill>
                <a:schemeClr val="tx1"/>
              </a:solidFill>
              <a:effectLst/>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799" y="2108284"/>
            <a:ext cx="15079051" cy="4832092"/>
          </a:xfrm>
          <a:prstGeom prst="rect">
            <a:avLst/>
          </a:prstGeom>
          <a:noFill/>
        </p:spPr>
        <p:txBody>
          <a:bodyPr wrap="square" rtlCol="0">
            <a:spAutoFit/>
          </a:bodyPr>
          <a:lstStyle/>
          <a:p>
            <a:r>
              <a:rPr lang="en-US" sz="2800" dirty="0"/>
              <a:t>In today’s fast-paced digital world, acquiring new skills has become essential for students and professionals. Many learners still rely on unstructured resources such as random videos, notes, or scattered online materials, which often leads to confusion and ineffective learning. These traditional methods lack proper organization and do not provide a clear learning path. Additionally, there is no centralized system to manage courses, track user enrollments, and deliver structured learning content efficiently. Existing e-learning platforms are often expensive, overly complex, or not accessible to all users. Furthermore, the absence of secure authentication can lead to data privacy issues and unauthorized access. Without a reliable and structured platform, users find it difficult to explore courses, enroll, and continue learning effectively. Therefore, there is a strong need for a simple, secure, and cost-effective web-based learning marketplace that provides structured content, secure access, and an efficient learning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34501" y="2573962"/>
            <a:ext cx="15082325" cy="2677656"/>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To design and develop a responsive web-based </a:t>
            </a:r>
            <a:r>
              <a:rPr lang="en-US" sz="2800" b="1" dirty="0"/>
              <a:t>Skill Learning Academy Marketplace</a:t>
            </a:r>
            <a:r>
              <a:rPr lang="en-US" sz="2800" dirty="0"/>
              <a:t> that allows users to explore, enroll, and learn courses using HTML, Bootstrap, PHP, and MySQL.</a:t>
            </a:r>
          </a:p>
          <a:p>
            <a:pPr marL="457200" indent="-457200">
              <a:buFont typeface="Wingdings" panose="05000000000000000000" pitchFamily="2" charset="2"/>
              <a:buChar char="q"/>
            </a:pPr>
            <a:endParaRPr lang="en-US" sz="2800" dirty="0"/>
          </a:p>
          <a:p>
            <a:endParaRPr lang="en-US" sz="2800" dirty="0"/>
          </a:p>
          <a:p>
            <a:pPr marL="457200" indent="-457200">
              <a:buFont typeface="Wingdings" panose="05000000000000000000" pitchFamily="2" charset="2"/>
              <a:buChar char="q"/>
            </a:pPr>
            <a:r>
              <a:rPr lang="en-US" sz="2800" dirty="0"/>
              <a:t>To implement secure authentication and CRUD operations for managing users, courses, and enrollments, ensuring safe access and efficient learning through a relational database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468600" cy="9602629"/>
          </a:xfrm>
          <a:prstGeom prst="rect">
            <a:avLst/>
          </a:prstGeom>
          <a:noFill/>
        </p:spPr>
        <p:txBody>
          <a:bodyPr wrap="square" rtlCol="0">
            <a:spAutoFit/>
          </a:bodyPr>
          <a:lstStyle/>
          <a:p>
            <a:pPr marL="342900" indent="-342900">
              <a:buFont typeface="Wingdings" panose="05000000000000000000" pitchFamily="2" charset="2"/>
              <a:buChar char="q"/>
            </a:pPr>
            <a:r>
              <a:rPr lang="en-US" sz="2000" b="1" dirty="0"/>
              <a:t>Complete Learning Marketplace Solution –</a:t>
            </a:r>
            <a:br>
              <a:rPr lang="en-US" sz="2000" dirty="0"/>
            </a:br>
            <a:r>
              <a:rPr lang="en-US" sz="2000" dirty="0"/>
              <a:t>The Skill Learning Academy Marketplace is a web-based full-stack application that allows users to register, browse courses, enroll, and learn — providing a complete platform for skill-based education.</a:t>
            </a:r>
          </a:p>
          <a:p>
            <a:pPr marL="342900" indent="-342900">
              <a:buFont typeface="Wingdings" panose="05000000000000000000" pitchFamily="2" charset="2"/>
              <a:buChar char="q"/>
            </a:pPr>
            <a:r>
              <a:rPr lang="en-US" sz="2000" b="1" dirty="0"/>
              <a:t>Secure Authentication –</a:t>
            </a:r>
            <a:br>
              <a:rPr lang="en-US" sz="2000" dirty="0"/>
            </a:br>
            <a:r>
              <a:rPr lang="en-US" sz="2000" dirty="0"/>
              <a:t>Implements secure user registration and login using PHP and session management to ensure safe access and protect user data.</a:t>
            </a:r>
          </a:p>
          <a:p>
            <a:pPr marL="342900" indent="-342900">
              <a:buFont typeface="Wingdings" panose="05000000000000000000" pitchFamily="2" charset="2"/>
              <a:buChar char="q"/>
            </a:pPr>
            <a:r>
              <a:rPr lang="en-US" sz="2000" b="1" dirty="0"/>
              <a:t>Dynamic Course Management –</a:t>
            </a:r>
            <a:br>
              <a:rPr lang="en-US" sz="2000" dirty="0"/>
            </a:br>
            <a:r>
              <a:rPr lang="en-US" sz="2000" dirty="0"/>
              <a:t>Courses are stored in a MySQL database and displayed dynamically, allowing users to view course details and enroll in real time.</a:t>
            </a:r>
          </a:p>
          <a:p>
            <a:pPr marL="342900" indent="-342900">
              <a:buFont typeface="Wingdings" panose="05000000000000000000" pitchFamily="2" charset="2"/>
              <a:buChar char="q"/>
            </a:pPr>
            <a:r>
              <a:rPr lang="en-US" sz="2000" b="1" dirty="0"/>
              <a:t>Relational Database Structure –</a:t>
            </a:r>
            <a:br>
              <a:rPr lang="en-US" sz="2000" dirty="0"/>
            </a:br>
            <a:r>
              <a:rPr lang="en-US" sz="2000" dirty="0"/>
              <a:t>Maintains relationships between Users, Courses, and Enrollments using primary and foreign keys for structured and consistent data management.</a:t>
            </a:r>
          </a:p>
          <a:p>
            <a:pPr marL="342900" indent="-342900">
              <a:buFont typeface="Wingdings" panose="05000000000000000000" pitchFamily="2" charset="2"/>
              <a:buChar char="q"/>
            </a:pPr>
            <a:r>
              <a:rPr lang="en-US" sz="2000" b="1" dirty="0"/>
              <a:t>Personalized Dashboard &amp; Learning –</a:t>
            </a:r>
            <a:br>
              <a:rPr lang="en-US" sz="2000" dirty="0"/>
            </a:br>
            <a:r>
              <a:rPr lang="en-US" sz="2000" dirty="0"/>
              <a:t>Users can view enrolled courses, track progress, and continue learning through a personalized dashboard interface.</a:t>
            </a:r>
          </a:p>
          <a:p>
            <a:pPr marL="342900" indent="-342900">
              <a:buFont typeface="Wingdings" panose="05000000000000000000" pitchFamily="2" charset="2"/>
              <a:buChar char="q"/>
            </a:pPr>
            <a:r>
              <a:rPr lang="en-US" sz="2000" b="1" dirty="0"/>
              <a:t>Fully Responsive Web Design –</a:t>
            </a:r>
            <a:br>
              <a:rPr lang="en-US" sz="2000" dirty="0"/>
            </a:br>
            <a:r>
              <a:rPr lang="en-US" sz="2000" dirty="0"/>
              <a:t>Designed using Bootstrap to ensure compatibility across desktop, tablet, and mobile devices.</a:t>
            </a:r>
          </a:p>
          <a:p>
            <a:pPr marL="342900" indent="-342900">
              <a:buFont typeface="Wingdings" panose="05000000000000000000" pitchFamily="2" charset="2"/>
              <a:buChar char="q"/>
            </a:pPr>
            <a:r>
              <a:rPr lang="en-US" sz="2000" b="1" dirty="0"/>
              <a:t>How It Solves Problems of Existing Systems –</a:t>
            </a:r>
            <a:br>
              <a:rPr lang="en-US" sz="2000" dirty="0"/>
            </a:br>
            <a:r>
              <a:rPr lang="en-US" sz="2000" dirty="0"/>
              <a:t>• Provides a centralized platform for structured learning</a:t>
            </a:r>
            <a:br>
              <a:rPr lang="en-US" sz="2000" dirty="0"/>
            </a:br>
            <a:r>
              <a:rPr lang="en-US" sz="2000" dirty="0"/>
              <a:t>• Eliminates unorganized learning resources</a:t>
            </a:r>
            <a:br>
              <a:rPr lang="en-US" sz="2000" dirty="0"/>
            </a:br>
            <a:r>
              <a:rPr lang="en-US" sz="2000" dirty="0"/>
              <a:t>• Ensures secure user authentication</a:t>
            </a:r>
            <a:br>
              <a:rPr lang="en-US" sz="2000" dirty="0"/>
            </a:br>
            <a:r>
              <a:rPr lang="en-US" sz="2000" dirty="0"/>
              <a:t>• Simplifies course enrollment and access</a:t>
            </a:r>
            <a:br>
              <a:rPr lang="en-US" sz="2000" dirty="0"/>
            </a:br>
            <a:r>
              <a:rPr lang="en-US" sz="2000" dirty="0"/>
              <a:t>• Offers a cost-effective and easy-to-use solution</a:t>
            </a:r>
          </a:p>
          <a:p>
            <a:br>
              <a:rPr lang="en-US" sz="2000" dirty="0"/>
            </a:br>
            <a:endParaRPr lang="en-US" sz="2000" dirty="0"/>
          </a:p>
          <a:p>
            <a:pPr marL="342900" indent="-342900">
              <a:buFont typeface="Wingdings" panose="05000000000000000000" pitchFamily="2" charset="2"/>
              <a:buChar char="q"/>
            </a:pPr>
            <a:r>
              <a:rPr lang="en-US" sz="2000" b="1" dirty="0"/>
              <a:t>Key Advantages –</a:t>
            </a:r>
            <a:r>
              <a:rPr lang="en-US" sz="2000" dirty="0"/>
              <a:t>Secure Authentication, Structured Learning System, Relational Database Management, Easy Course Enrollment, Responsive Design, Scalable Architecture.</a:t>
            </a:r>
          </a:p>
          <a:p>
            <a:endParaRPr lang="en-US" sz="2000" dirty="0"/>
          </a:p>
          <a:p>
            <a:pPr marL="457200" indent="-457200">
              <a:buFontTx/>
              <a:buChar char="-"/>
            </a:pPr>
            <a:endParaRPr lang="en-US" sz="2000" dirty="0"/>
          </a:p>
          <a:p>
            <a:pPr marL="457200" indent="-457200">
              <a:buFontTx/>
              <a:buChar char="-"/>
            </a:pPr>
            <a:endParaRPr lang="en-US" sz="2000" dirty="0"/>
          </a:p>
          <a:p>
            <a:pPr marL="457200" indent="-457200">
              <a:buFontTx/>
              <a:buChar char="-"/>
            </a:pPr>
            <a:endParaRPr lang="en-US" sz="2000" dirty="0"/>
          </a:p>
          <a:p>
            <a:pPr marL="457200" indent="-457200">
              <a:buFontTx/>
              <a:buChar char="-"/>
            </a:pPr>
            <a:endParaRPr lang="en-US" sz="2000" dirty="0"/>
          </a:p>
          <a:p>
            <a:pPr marL="457200" indent="-457200">
              <a:buFontTx/>
              <a:buChar char="-"/>
            </a:pPr>
            <a:endParaRPr lang="en-US" sz="2000" dirty="0"/>
          </a:p>
          <a:p>
            <a:pPr marL="457200" indent="-457200">
              <a:buFontTx/>
              <a:buChar char="-"/>
            </a:pP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9" name="TextBox 39"/>
          <p:cNvSpPr txBox="1"/>
          <p:nvPr/>
        </p:nvSpPr>
        <p:spPr>
          <a:xfrm>
            <a:off x="12792815" y="-8988429"/>
            <a:ext cx="8932970" cy="9319492"/>
          </a:xfrm>
          <a:prstGeom prst="rect">
            <a:avLst/>
          </a:prstGeom>
        </p:spPr>
        <p:txBody>
          <a:bodyPr lIns="50800" tIns="50800" rIns="50800" bIns="50800" rtlCol="0" anchor="ctr"/>
          <a:lstStyle/>
          <a:p>
            <a:pPr algn="ctr">
              <a:lnSpc>
                <a:spcPts val="2659"/>
              </a:lnSpc>
            </a:pPr>
            <a:endParaRPr/>
          </a:p>
        </p:txBody>
      </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EDCAFA8E-A9F5-AA25-6F50-5F6533655A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4863" y="2685990"/>
            <a:ext cx="8575124" cy="5767595"/>
          </a:xfrm>
          <a:prstGeom prst="rect">
            <a:avLst/>
          </a:prstGeom>
        </p:spPr>
      </p:pic>
      <p:pic>
        <p:nvPicPr>
          <p:cNvPr id="36" name="Picture 35">
            <a:extLst>
              <a:ext uri="{FF2B5EF4-FFF2-40B4-BE49-F238E27FC236}">
                <a16:creationId xmlns:a16="http://schemas.microsoft.com/office/drawing/2014/main" id="{45BE2034-E08C-A2E0-D586-D811281664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9987" y="2498155"/>
            <a:ext cx="7652076" cy="65217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9289D1C-0DA1-5782-CFF9-1FE511DF26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4600" y="1192725"/>
            <a:ext cx="13258800" cy="82983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2538182"/>
            <a:ext cx="15082325" cy="6740307"/>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t>Frontend: </a:t>
            </a:r>
            <a:r>
              <a:rPr lang="en-IN" sz="2400" dirty="0"/>
              <a:t>HTML, CSS, Bootstrap , JavaScript</a:t>
            </a:r>
          </a:p>
          <a:p>
            <a:pPr marL="342900" indent="-342900">
              <a:buFont typeface="Wingdings" panose="05000000000000000000" pitchFamily="2" charset="2"/>
              <a:buChar char="q"/>
            </a:pPr>
            <a:endParaRPr lang="en-IN" sz="2400" dirty="0"/>
          </a:p>
          <a:p>
            <a:endParaRPr lang="en-IN" sz="2400" dirty="0"/>
          </a:p>
          <a:p>
            <a:pPr marL="342900" indent="-342900">
              <a:buFont typeface="Wingdings" panose="05000000000000000000" pitchFamily="2" charset="2"/>
              <a:buChar char="q"/>
            </a:pPr>
            <a:r>
              <a:rPr lang="en-IN" sz="2400" b="1" dirty="0"/>
              <a:t>Backend:</a:t>
            </a:r>
            <a:r>
              <a:rPr lang="en-IN" sz="2400" dirty="0"/>
              <a:t> PHP, CRUD Operations, Server-side Validation, Authentication Logic</a:t>
            </a:r>
          </a:p>
          <a:p>
            <a:pPr marL="342900" indent="-342900">
              <a:buFont typeface="Wingdings" panose="05000000000000000000" pitchFamily="2" charset="2"/>
              <a:buChar char="q"/>
            </a:pPr>
            <a:endParaRPr lang="en-IN" sz="2400" dirty="0"/>
          </a:p>
          <a:p>
            <a:endParaRPr lang="en-IN" sz="2400" dirty="0"/>
          </a:p>
          <a:p>
            <a:pPr marL="342900" indent="-342900">
              <a:buFont typeface="Wingdings" panose="05000000000000000000" pitchFamily="2" charset="2"/>
              <a:buChar char="q"/>
            </a:pPr>
            <a:r>
              <a:rPr lang="en-IN" sz="2400" dirty="0"/>
              <a:t> </a:t>
            </a:r>
            <a:r>
              <a:rPr lang="en-IN" sz="2400" b="1" dirty="0"/>
              <a:t>Database:</a:t>
            </a:r>
            <a:r>
              <a:rPr lang="en-IN" sz="2400" dirty="0"/>
              <a:t> MySQL, Users Table, Courses Table, </a:t>
            </a:r>
            <a:r>
              <a:rPr lang="en-IN" sz="2400" dirty="0" err="1"/>
              <a:t>Enrollments</a:t>
            </a:r>
            <a:r>
              <a:rPr lang="en-IN" sz="2400" dirty="0"/>
              <a:t> Table, Lessons Table, Relational Mapping (Foreign Key)</a:t>
            </a:r>
          </a:p>
          <a:p>
            <a:pPr marL="342900" indent="-342900">
              <a:buFont typeface="Wingdings" panose="05000000000000000000" pitchFamily="2" charset="2"/>
              <a:buChar char="q"/>
            </a:pPr>
            <a:endParaRPr lang="en-IN" sz="2400" dirty="0"/>
          </a:p>
          <a:p>
            <a:endParaRPr lang="en-IN" sz="2400" dirty="0"/>
          </a:p>
          <a:p>
            <a:pPr marL="342900" indent="-342900">
              <a:buFont typeface="Wingdings" panose="05000000000000000000" pitchFamily="2" charset="2"/>
              <a:buChar char="q"/>
            </a:pPr>
            <a:r>
              <a:rPr lang="en-IN" sz="2400" dirty="0"/>
              <a:t> </a:t>
            </a:r>
            <a:r>
              <a:rPr lang="en-IN" sz="2400" b="1" dirty="0"/>
              <a:t>Tools:</a:t>
            </a:r>
            <a:r>
              <a:rPr lang="en-IN" sz="2400" dirty="0"/>
              <a:t> XAMPP, phpMyAdmin, VS Code, Web Browser</a:t>
            </a:r>
          </a:p>
          <a:p>
            <a:pPr marL="342900" indent="-342900">
              <a:buFont typeface="Wingdings" panose="05000000000000000000" pitchFamily="2" charset="2"/>
              <a:buChar char="q"/>
            </a:pPr>
            <a:endParaRPr lang="en-IN" sz="2400" dirty="0"/>
          </a:p>
          <a:p>
            <a:endParaRPr lang="en-IN" sz="2400" dirty="0"/>
          </a:p>
          <a:p>
            <a:pPr marL="342900" indent="-342900">
              <a:buFont typeface="Wingdings" panose="05000000000000000000" pitchFamily="2" charset="2"/>
              <a:buChar char="q"/>
            </a:pPr>
            <a:r>
              <a:rPr lang="en-IN" sz="2400" dirty="0"/>
              <a:t> </a:t>
            </a:r>
            <a:r>
              <a:rPr lang="en-IN" sz="2400" b="1" dirty="0"/>
              <a:t>Hardware Requirements:</a:t>
            </a:r>
            <a:r>
              <a:rPr lang="en-IN" sz="2400" dirty="0"/>
              <a:t> Minimum 4GB RAM, 20GB free storage, Intel i3 processor or above</a:t>
            </a:r>
          </a:p>
          <a:p>
            <a:pPr marL="342900" indent="-342900">
              <a:buFont typeface="Wingdings" panose="05000000000000000000" pitchFamily="2" charset="2"/>
              <a:buChar char="q"/>
            </a:pPr>
            <a:endParaRPr lang="en-IN" sz="2400" dirty="0"/>
          </a:p>
          <a:p>
            <a:endParaRPr lang="en-IN" sz="2400" dirty="0"/>
          </a:p>
          <a:p>
            <a:pPr marL="342900" indent="-342900">
              <a:buFont typeface="Wingdings" panose="05000000000000000000" pitchFamily="2" charset="2"/>
              <a:buChar char="q"/>
            </a:pPr>
            <a:r>
              <a:rPr lang="en-IN" sz="2400" dirty="0"/>
              <a:t> </a:t>
            </a:r>
            <a:r>
              <a:rPr lang="en-IN" sz="2400" b="1" dirty="0"/>
              <a:t>Software Requirements:</a:t>
            </a:r>
            <a:r>
              <a:rPr lang="en-IN" sz="2400" dirty="0"/>
              <a:t> Windows / Linux / macOS, Apache Server, PHP 7.4 or above, MySQL 5.7 or above, Modern Web Browser</a:t>
            </a:r>
          </a:p>
          <a:p>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41234" y="1136317"/>
            <a:ext cx="15544800" cy="11726287"/>
          </a:xfrm>
          <a:prstGeom prst="rect">
            <a:avLst/>
          </a:prstGeom>
          <a:noFill/>
        </p:spPr>
        <p:txBody>
          <a:bodyPr wrap="square" rtlCol="0">
            <a:spAutoFit/>
          </a:bodyPr>
          <a:lstStyle/>
          <a:p>
            <a:endParaRPr lang="en-IN" sz="2800" b="1" dirty="0"/>
          </a:p>
          <a:p>
            <a:r>
              <a:rPr lang="en-US" sz="2800" b="1" dirty="0"/>
              <a:t>Module 1: User Authentication &amp; Management</a:t>
            </a:r>
          </a:p>
          <a:p>
            <a:r>
              <a:rPr lang="en-US" sz="2800" dirty="0"/>
              <a:t>This module manages user registration, login, and session handling within the system. It allows users to create accounts and securely log in using authentication mechanisms. Each user is uniquely identified, and session management ensures secure access to different parts of the application.</a:t>
            </a:r>
          </a:p>
          <a:p>
            <a:endParaRPr lang="en-US" sz="2800" dirty="0"/>
          </a:p>
          <a:p>
            <a:r>
              <a:rPr lang="en-US" sz="2800" b="1" dirty="0"/>
              <a:t>Module 2: Course Management</a:t>
            </a:r>
          </a:p>
          <a:p>
            <a:r>
              <a:rPr lang="en-US" sz="2800" dirty="0"/>
              <a:t>This module handles all course-related operations including adding, viewing, and managing course details. It stores information such as course title, description, and content. Courses are dynamically displayed to users for easy browsing and selection.</a:t>
            </a:r>
          </a:p>
          <a:p>
            <a:endParaRPr lang="en-US" sz="2800" dirty="0"/>
          </a:p>
          <a:p>
            <a:r>
              <a:rPr lang="en-US" sz="2800" b="1" dirty="0"/>
              <a:t>Module 3:Enrollment Management</a:t>
            </a:r>
          </a:p>
          <a:p>
            <a:r>
              <a:rPr lang="en-US" sz="2800" dirty="0"/>
              <a:t>This module manages the enrollment process where users can enroll in available courses. It maintains the relationship between users and courses using foreign keys. It ensures that each user’s enrolled courses are tracked properly.</a:t>
            </a:r>
          </a:p>
          <a:p>
            <a:endParaRPr lang="en-US" sz="2800" dirty="0"/>
          </a:p>
          <a:p>
            <a:r>
              <a:rPr lang="en-US" sz="2800" b="1" dirty="0"/>
              <a:t>Module 4:Learning &amp; Dashboard Module</a:t>
            </a:r>
          </a:p>
          <a:p>
            <a:r>
              <a:rPr lang="en-US" sz="2800" dirty="0"/>
              <a:t>This module allows users to access learning content and continue their courses through a personalized dashboard. It displays enrolled courses, learning progress, and provides an interactive interface for users to navigate and learn efficiently.</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1977414" y="7726735"/>
            <a:ext cx="15256902" cy="6124754"/>
          </a:xfrm>
          <a:prstGeom prst="rect">
            <a:avLst/>
          </a:prstGeom>
          <a:noFill/>
        </p:spPr>
        <p:txBody>
          <a:bodyPr wrap="square" rtlCol="0">
            <a:spAutoFit/>
          </a:bodyPr>
          <a:lstStyle/>
          <a:p>
            <a:r>
              <a:rPr lang="en-US" sz="2800" b="1" dirty="0"/>
              <a:t>User Authentication &amp; Management</a:t>
            </a:r>
          </a:p>
          <a:p>
            <a:r>
              <a:rPr lang="en-US" sz="2800" dirty="0"/>
              <a:t>This module manages user registration, login, and session handling within the system. It allows users to create accounts and securely log in using authentication mechanisms. Each user is uniquely identified, and session management ensures secure access to different parts of the application.</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F9570053-1319-E943-1286-9A97FC66FD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0862" y="1758776"/>
            <a:ext cx="12186276" cy="5794538"/>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DA39C2F-D1F8-F82A-C9E9-139F21C97061}"/>
              </a:ext>
            </a:extLst>
          </p:cNvPr>
          <p:cNvSpPr txBox="1"/>
          <p:nvPr/>
        </p:nvSpPr>
        <p:spPr>
          <a:xfrm>
            <a:off x="2976326" y="8045674"/>
            <a:ext cx="14210674" cy="2677656"/>
          </a:xfrm>
          <a:prstGeom prst="rect">
            <a:avLst/>
          </a:prstGeom>
          <a:noFill/>
        </p:spPr>
        <p:txBody>
          <a:bodyPr wrap="square">
            <a:spAutoFit/>
          </a:bodyPr>
          <a:lstStyle/>
          <a:p>
            <a:r>
              <a:rPr lang="en-US" sz="2800" b="1" dirty="0"/>
              <a:t>Course Management</a:t>
            </a:r>
          </a:p>
          <a:p>
            <a:r>
              <a:rPr lang="en-US" sz="2800" dirty="0"/>
              <a:t>This module handles all course-related operations including adding, viewing, and managing course details. It stores information such as course title, description, and content. Courses are dynamically displayed to users for easy browsing and selection.</a:t>
            </a:r>
          </a:p>
          <a:p>
            <a:endParaRPr lang="en-US" sz="2800" dirty="0"/>
          </a:p>
          <a:p>
            <a:pPr marL="457200" indent="-457200">
              <a:buFontTx/>
              <a:buChar char="-"/>
            </a:pPr>
            <a:endParaRPr lang="en-US" sz="2800" dirty="0"/>
          </a:p>
        </p:txBody>
      </p:sp>
      <p:pic>
        <p:nvPicPr>
          <p:cNvPr id="5" name="Picture 4">
            <a:extLst>
              <a:ext uri="{FF2B5EF4-FFF2-40B4-BE49-F238E27FC236}">
                <a16:creationId xmlns:a16="http://schemas.microsoft.com/office/drawing/2014/main" id="{37522C3A-B6B8-681F-ACC8-145CFB2792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1235" y="1917467"/>
            <a:ext cx="7982263" cy="5686583"/>
          </a:xfrm>
          <a:prstGeom prst="rect">
            <a:avLst/>
          </a:prstGeom>
        </p:spPr>
      </p:pic>
      <p:pic>
        <p:nvPicPr>
          <p:cNvPr id="40" name="Picture 39">
            <a:extLst>
              <a:ext uri="{FF2B5EF4-FFF2-40B4-BE49-F238E27FC236}">
                <a16:creationId xmlns:a16="http://schemas.microsoft.com/office/drawing/2014/main" id="{2E51349B-A89F-A0E5-F350-05FDB8575F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26297" y="1859697"/>
            <a:ext cx="7467901" cy="572301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a:extLst>
              <a:ext uri="{FF2B5EF4-FFF2-40B4-BE49-F238E27FC236}">
                <a16:creationId xmlns:a16="http://schemas.microsoft.com/office/drawing/2014/main" id="{9FD269D2-7F9F-CD2B-BE55-EDBFC4FD1BA4}"/>
              </a:ext>
            </a:extLst>
          </p:cNvPr>
          <p:cNvSpPr txBox="1"/>
          <p:nvPr/>
        </p:nvSpPr>
        <p:spPr>
          <a:xfrm>
            <a:off x="2609882" y="7759610"/>
            <a:ext cx="14210674" cy="2246769"/>
          </a:xfrm>
          <a:prstGeom prst="rect">
            <a:avLst/>
          </a:prstGeom>
          <a:noFill/>
        </p:spPr>
        <p:txBody>
          <a:bodyPr wrap="square">
            <a:spAutoFit/>
          </a:bodyPr>
          <a:lstStyle/>
          <a:p>
            <a:r>
              <a:rPr lang="en-US" sz="2800" b="1" dirty="0"/>
              <a:t>Enrollment Management</a:t>
            </a:r>
          </a:p>
          <a:p>
            <a:r>
              <a:rPr lang="en-US" sz="2800" dirty="0"/>
              <a:t>This module manages the enrollment process where users can enroll in available courses. It maintains the relationship between users and courses using foreign keys. It ensures that each user’s enrolled courses are tracked properly.</a:t>
            </a:r>
          </a:p>
          <a:p>
            <a:pPr>
              <a:buNone/>
            </a:pPr>
            <a:endParaRPr lang="en-US" sz="2800" dirty="0"/>
          </a:p>
        </p:txBody>
      </p:sp>
      <p:pic>
        <p:nvPicPr>
          <p:cNvPr id="6" name="Picture 5">
            <a:extLst>
              <a:ext uri="{FF2B5EF4-FFF2-40B4-BE49-F238E27FC236}">
                <a16:creationId xmlns:a16="http://schemas.microsoft.com/office/drawing/2014/main" id="{7591837B-F99E-4333-80BC-B2DD1D878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6263" y="1342830"/>
            <a:ext cx="12135474" cy="630352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EFB1D6E0-9633-049B-0732-5A8162B32C8A}"/>
              </a:ext>
            </a:extLst>
          </p:cNvPr>
          <p:cNvSpPr txBox="1"/>
          <p:nvPr/>
        </p:nvSpPr>
        <p:spPr>
          <a:xfrm>
            <a:off x="2400168" y="8049373"/>
            <a:ext cx="14210674" cy="2246769"/>
          </a:xfrm>
          <a:prstGeom prst="rect">
            <a:avLst/>
          </a:prstGeom>
          <a:noFill/>
        </p:spPr>
        <p:txBody>
          <a:bodyPr wrap="square">
            <a:spAutoFit/>
          </a:bodyPr>
          <a:lstStyle/>
          <a:p>
            <a:r>
              <a:rPr lang="en-US" sz="2800" b="1" dirty="0"/>
              <a:t>Learning &amp; Dashboard Module</a:t>
            </a:r>
          </a:p>
          <a:p>
            <a:r>
              <a:rPr lang="en-US" sz="2800" dirty="0"/>
              <a:t>This module allows users to access learning content and continue their courses through a personalized dashboard. It displays enrolled courses, learning progress, and provides an interactive interface for users to navigate and learn efficiently.</a:t>
            </a:r>
          </a:p>
          <a:p>
            <a:pPr>
              <a:buNone/>
            </a:pPr>
            <a:endParaRPr lang="en-US" sz="2800" dirty="0"/>
          </a:p>
        </p:txBody>
      </p:sp>
      <p:pic>
        <p:nvPicPr>
          <p:cNvPr id="5" name="Picture 4">
            <a:extLst>
              <a:ext uri="{FF2B5EF4-FFF2-40B4-BE49-F238E27FC236}">
                <a16:creationId xmlns:a16="http://schemas.microsoft.com/office/drawing/2014/main" id="{3B684266-1FFF-5AEC-B14D-9709E60111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5734" y="1697521"/>
            <a:ext cx="12186276" cy="606332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8D5859-AE94-99A2-4ED6-C16EFD55296A}"/>
              </a:ext>
            </a:extLst>
          </p:cNvPr>
          <p:cNvSpPr txBox="1"/>
          <p:nvPr/>
        </p:nvSpPr>
        <p:spPr>
          <a:xfrm>
            <a:off x="2740578" y="1828222"/>
            <a:ext cx="14045782" cy="6124754"/>
          </a:xfrm>
          <a:prstGeom prst="rect">
            <a:avLst/>
          </a:prstGeom>
          <a:noFill/>
        </p:spPr>
        <p:txBody>
          <a:bodyPr wrap="square">
            <a:spAutoFit/>
          </a:bodyPr>
          <a:lstStyle/>
          <a:p>
            <a:pPr>
              <a:buNone/>
            </a:pPr>
            <a:r>
              <a:rPr lang="en-US" sz="2800" b="1" dirty="0"/>
              <a:t>Advantages:</a:t>
            </a:r>
          </a:p>
          <a:p>
            <a:r>
              <a:rPr lang="en-US" sz="2800" dirty="0"/>
              <a:t>•Simple and user-friendly interface for easy learning and navigation.</a:t>
            </a:r>
            <a:br>
              <a:rPr lang="en-US" sz="2800" dirty="0"/>
            </a:br>
            <a:r>
              <a:rPr lang="en-US" sz="2800" dirty="0"/>
              <a:t>• Secure authentication system for safe user access.</a:t>
            </a:r>
            <a:br>
              <a:rPr lang="en-US" sz="2800" dirty="0"/>
            </a:br>
            <a:r>
              <a:rPr lang="en-US" sz="2800" dirty="0"/>
              <a:t>• Efficient relational database structure ensuring data integrity.</a:t>
            </a:r>
            <a:br>
              <a:rPr lang="en-US" sz="2800" dirty="0"/>
            </a:br>
            <a:r>
              <a:rPr lang="en-US" sz="2800" dirty="0"/>
              <a:t>• Supports full CRUD operations for users, courses, and enrollments.</a:t>
            </a:r>
            <a:br>
              <a:rPr lang="en-US" sz="2800" dirty="0"/>
            </a:br>
            <a:r>
              <a:rPr lang="en-US" sz="2800" dirty="0"/>
              <a:t>• Structured learning system with course enrollment and dashboard.</a:t>
            </a:r>
            <a:br>
              <a:rPr lang="en-US" sz="2800" dirty="0"/>
            </a:br>
            <a:r>
              <a:rPr lang="en-US" sz="2800" dirty="0"/>
              <a:t>• Responsive design compatible with desktop and mobile devices.</a:t>
            </a:r>
          </a:p>
          <a:p>
            <a:pPr>
              <a:buNone/>
            </a:pPr>
            <a:endParaRPr lang="en-US" sz="2800" dirty="0"/>
          </a:p>
          <a:p>
            <a:pPr>
              <a:buNone/>
            </a:pPr>
            <a:endParaRPr lang="en-US" sz="2800" dirty="0"/>
          </a:p>
          <a:p>
            <a:r>
              <a:rPr lang="en-US" sz="2800" b="1" dirty="0"/>
              <a:t>Limitations:</a:t>
            </a:r>
          </a:p>
          <a:p>
            <a:r>
              <a:rPr lang="en-US" sz="2800" dirty="0"/>
              <a:t>•No payment gateway integration for course purchases.</a:t>
            </a:r>
            <a:br>
              <a:rPr lang="en-US" sz="2800" dirty="0"/>
            </a:br>
            <a:r>
              <a:rPr lang="en-US" sz="2800" dirty="0"/>
              <a:t>• Limited advanced features like live classes or video streaming.</a:t>
            </a:r>
            <a:br>
              <a:rPr lang="en-US" sz="2800" dirty="0"/>
            </a:br>
            <a:r>
              <a:rPr lang="en-US" sz="2800" dirty="0"/>
              <a:t>• Application runs locally and is not deployed on the cloud.</a:t>
            </a:r>
            <a:br>
              <a:rPr lang="en-US" sz="2800" dirty="0"/>
            </a:br>
            <a:r>
              <a:rPr lang="en-US" sz="2800" dirty="0"/>
              <a:t>• No advanced analytics or graphical progress tracking.</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1431</Words>
  <Application>Microsoft Office PowerPoint</Application>
  <PresentationFormat>Custom</PresentationFormat>
  <Paragraphs>251</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Gotham</vt:lpstr>
      <vt:lpstr>Wingdings</vt:lpstr>
      <vt:lpstr>Gotham Bold Italics</vt:lpstr>
      <vt:lpstr>Bookman Old Style</vt:lpstr>
      <vt:lpstr>Arial</vt:lpstr>
      <vt:lpstr>Calibri</vt:lpstr>
      <vt:lpstr>Times New Roman</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jayanthi</dc:creator>
  <cp:lastModifiedBy>B Jayanthi</cp:lastModifiedBy>
  <cp:revision>13</cp:revision>
  <dcterms:created xsi:type="dcterms:W3CDTF">2006-08-16T00:00:00Z</dcterms:created>
  <dcterms:modified xsi:type="dcterms:W3CDTF">2026-03-23T16:56:10Z</dcterms:modified>
  <dc:identifier>DAHCaYqJ9OU</dc:identifier>
</cp:coreProperties>
</file>